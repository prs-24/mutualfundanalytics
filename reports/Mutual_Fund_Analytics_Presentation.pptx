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7B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70-4FAC-AF0F-16DDC843350C}"/>
              </c:ext>
            </c:extLst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70-4FAC-AF0F-16DDC843350C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70-4FAC-AF0F-16DDC843350C}"/>
              </c:ext>
            </c:extLst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70-4FAC-AF0F-16DDC843350C}"/>
              </c:ext>
            </c:extLst>
          </c:dPt>
          <c:dPt>
            <c:idx val="4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70-4FAC-AF0F-16DDC843350C}"/>
              </c:ext>
            </c:extLst>
          </c:dPt>
          <c:dPt>
            <c:idx val="5"/>
            <c:bubble3D val="0"/>
            <c:spPr>
              <a:solidFill>
                <a:srgbClr val="8DA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70-4FAC-AF0F-16DDC843350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70-4FAC-AF0F-16DDC843350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70-4FAC-AF0F-16DDC843350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70-4FAC-AF0F-16DDC843350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70-4FAC-AF0F-16DDC843350C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70-4FAC-AF0F-16DDC843350C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70-4FAC-AF0F-16DDC843350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Equity</c:v>
                </c:pt>
                <c:pt idx="1">
                  <c:v>Debt</c:v>
                </c:pt>
                <c:pt idx="2">
                  <c:v>Hybrid</c:v>
                </c:pt>
                <c:pt idx="3">
                  <c:v>ELSS</c:v>
                </c:pt>
                <c:pt idx="4">
                  <c:v>Index/ETF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24</c:v>
                </c:pt>
                <c:pt idx="2">
                  <c:v>17</c:v>
                </c:pt>
                <c:pt idx="3">
                  <c:v>9</c:v>
                </c:pt>
                <c:pt idx="4">
                  <c:v>8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70-4FAC-AF0F-16DDC84335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DA4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22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Grade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20-4891-80C2-22D75745C08D}"/>
              </c:ext>
            </c:extLst>
          </c:dPt>
          <c:dPt>
            <c:idx val="1"/>
            <c:invertIfNegative val="0"/>
            <c:bubble3D val="0"/>
            <c:spPr>
              <a:solidFill>
                <a:srgbClr val="F4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20-4891-80C2-22D75745C08D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20-4891-80C2-22D75745C08D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20-4891-80C2-22D75745C08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Moderate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35</c:v>
                </c:pt>
                <c:pt idx="2">
                  <c:v>30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20-4891-80C2-22D75745C0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A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23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solidFill>
              <a:srgbClr val="3A7BD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Small Cap</c:v>
                </c:pt>
                <c:pt idx="1">
                  <c:v>Mid Cap</c:v>
                </c:pt>
                <c:pt idx="2">
                  <c:v>Large Cap</c:v>
                </c:pt>
                <c:pt idx="3">
                  <c:v>Hybrid</c:v>
                </c:pt>
                <c:pt idx="4">
                  <c:v>Debt</c:v>
                </c:pt>
                <c:pt idx="5">
                  <c:v>ELSS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22.4</c:v>
                </c:pt>
                <c:pt idx="1">
                  <c:v>18.7</c:v>
                </c:pt>
                <c:pt idx="2">
                  <c:v>14.2</c:v>
                </c:pt>
                <c:pt idx="3">
                  <c:v>12.1</c:v>
                </c:pt>
                <c:pt idx="4">
                  <c:v>7.3</c:v>
                </c:pt>
                <c:pt idx="5">
                  <c:v>19.100000000000001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1F-4034-A034-9FA7AB7B7B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A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5223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 Fund</c:v>
                </c:pt>
              </c:strCache>
            </c:strRef>
          </c:tx>
          <c:spPr>
            <a:ln w="31750" cap="flat">
              <a:solidFill>
                <a:srgbClr val="3A7BD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A7BD5"/>
              </a:solidFill>
              <a:ln w="9525" cap="flat">
                <a:solidFill>
                  <a:srgbClr val="3A7BD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FY19</c:v>
                </c:pt>
                <c:pt idx="1">
                  <c:v>FY20</c:v>
                </c:pt>
                <c:pt idx="2">
                  <c:v>FY21</c:v>
                </c:pt>
                <c:pt idx="3">
                  <c:v>FY22</c:v>
                </c:pt>
                <c:pt idx="4">
                  <c:v>FY23</c:v>
                </c:pt>
                <c:pt idx="5">
                  <c:v>FY24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130</c:v>
                </c:pt>
                <c:pt idx="3">
                  <c:v>158</c:v>
                </c:pt>
                <c:pt idx="4">
                  <c:v>172</c:v>
                </c:pt>
                <c:pt idx="5">
                  <c:v>210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4B0-4058-B719-1D475C071C3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Hybrid Fund</c:v>
                </c:pt>
              </c:strCache>
            </c:strRef>
          </c:tx>
          <c:spPr>
            <a:ln w="31750" cap="flat">
              <a:solidFill>
                <a:srgbClr val="F4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623"/>
              </a:solidFill>
              <a:ln w="9525" cap="flat">
                <a:solidFill>
                  <a:srgbClr val="F4A62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FY19</c:v>
                </c:pt>
                <c:pt idx="1">
                  <c:v>FY20</c:v>
                </c:pt>
                <c:pt idx="2">
                  <c:v>FY21</c:v>
                </c:pt>
                <c:pt idx="3">
                  <c:v>FY22</c:v>
                </c:pt>
                <c:pt idx="4">
                  <c:v>FY23</c:v>
                </c:pt>
                <c:pt idx="5">
                  <c:v>FY24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98</c:v>
                </c:pt>
                <c:pt idx="2">
                  <c:v>120</c:v>
                </c:pt>
                <c:pt idx="3">
                  <c:v>138</c:v>
                </c:pt>
                <c:pt idx="4">
                  <c:v>148</c:v>
                </c:pt>
                <c:pt idx="5">
                  <c:v>172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4B0-4058-B719-1D475C071C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2A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DA4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DA4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40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DD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 and Analytics Capstone Project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69480" y="32461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2461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Investment Intelligence</a:t>
            </a:r>
            <a:br>
              <a:rPr lang="en-US" sz="13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– PRATEEK RAJ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522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41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Analysis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572768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10,000+ mutual fund schemes exist in India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struggle to identify schemes suited to their goals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provides comprehensive fund intelligence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9144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2412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4048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Challenges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83280" y="1572768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volume of data with no structured insights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expense ratios erode long-term returns silently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fund comparison remain complex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80760" y="9144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15223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02412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1005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1572768"/>
            <a:ext cx="2423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analytics eliminate emotional bias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scoring enables consistent fund selection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metrics empower informed investment choices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8813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03327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32588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load AMFI scheme data, historical NAV, AUM, SIP inflow and benchmark indices into a structured pipeline.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088136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88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21808" y="103327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132588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automated checks for missing values, duplicates, outliers and schema integrity across all datasets.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07568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20370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14884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441448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formats, impute missing fields, remove noise and engineer meaningful derived features.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075688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203704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21808" y="214884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2441448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patterns in fund categories, expense ratios, risk grades and return distributions via statistical profiling.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191256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" y="33192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32644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557016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Power BI dashboards covering performance, investor behaviour, portfolio and recommendations.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191256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3192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21808" y="326440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3557016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multi-parameter, rule-based engine to surface top-rated, low-cost funds aligned with investor profiles.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34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35608" y="1563624"/>
            <a:ext cx="301752" cy="0"/>
          </a:xfrm>
          <a:prstGeom prst="line">
            <a:avLst/>
          </a:prstGeom>
          <a:noFill/>
          <a:ln w="19050">
            <a:solidFill>
              <a:srgbClr val="8DA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55064" y="1499616"/>
            <a:ext cx="82296" cy="128016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12344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37360" y="1234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44368" y="1563624"/>
            <a:ext cx="301752" cy="0"/>
          </a:xfrm>
          <a:prstGeom prst="line">
            <a:avLst/>
          </a:prstGeom>
          <a:noFill/>
          <a:ln w="19050">
            <a:solidFill>
              <a:srgbClr val="8DA4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3824" y="1499616"/>
            <a:ext cx="82296" cy="128016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344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234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3128" y="1563624"/>
            <a:ext cx="301752" cy="0"/>
          </a:xfrm>
          <a:prstGeom prst="line">
            <a:avLst/>
          </a:prstGeom>
          <a:noFill/>
          <a:ln w="19050">
            <a:solidFill>
              <a:srgbClr val="8DA4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1499616"/>
            <a:ext cx="82296" cy="128016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344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234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61888" y="1563624"/>
            <a:ext cx="301752" cy="0"/>
          </a:xfrm>
          <a:prstGeom prst="line">
            <a:avLst/>
          </a:prstGeom>
          <a:noFill/>
          <a:ln w="19050">
            <a:solidFill>
              <a:srgbClr val="8DA4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1499616"/>
            <a:ext cx="82296" cy="128016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2344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1234439"/>
            <a:ext cx="1188720" cy="658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b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70648" y="1563624"/>
            <a:ext cx="301752" cy="0"/>
          </a:xfrm>
          <a:prstGeom prst="line">
            <a:avLst/>
          </a:prstGeom>
          <a:noFill/>
          <a:ln w="19050">
            <a:solidFill>
              <a:srgbClr val="8DA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90104" y="1499616"/>
            <a:ext cx="82296" cy="128016"/>
          </a:xfrm>
          <a:prstGeom prst="rect">
            <a:avLst/>
          </a:prstGeom>
          <a:solidFill>
            <a:srgbClr val="8DA4B8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1234440"/>
            <a:ext cx="1188720" cy="658368"/>
          </a:xfrm>
          <a:prstGeom prst="roundRect">
            <a:avLst>
              <a:gd name="adj" fmla="val 11111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0" y="1234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Rec. Engine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AMFI, NAV, AUM, SIP, Index feeds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9164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checks, null &amp; duplicate detection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0040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Imputation, normalisation, feature engineering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0916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profiling &amp; pattern discovery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Aggregation, KPI computation, export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26680" y="19933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fund scoring &amp; ranking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2651760"/>
            <a:ext cx="8229600" cy="2103120"/>
          </a:xfrm>
          <a:prstGeom prst="roundRect">
            <a:avLst>
              <a:gd name="adj" fmla="val 5217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Design Principles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3154680"/>
            <a:ext cx="7863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Python scripts for each stage ensure independent testing and maintenance.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and NumPy form the core processing layer for speed and flexibility.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gates prevent corrupted records from propagating downstream.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consumes the clean, aggregated output for real-time visual exploration.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engine acts as the final intelligence layer on the processed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Used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046720" cy="371246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A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Schemes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Name, Category, AMC, Rating, Expense Ratio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list of all registered mutual fund schemes in India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NAV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/ MFD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NAV, Scheme Code, Returns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net asset values for performance trend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(₹ Crore), Fund House, Quarter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Under Management by fund house and 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Inflows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Month, Inflow (₹ Crore), Accounts, Folios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SIP contribution trends showing investor behaviour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Holdings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Disclosures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Stock, Sector, Allocation %, Holding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Underlying securities held by each fund scheme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Indices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/ BSE / CRISIL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Level, Returns, Date, Index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8DA4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benchmarks for fund alpha and relative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B2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4069080"/>
          </a:xfrm>
          <a:prstGeom prst="roundRect">
            <a:avLst>
              <a:gd name="adj" fmla="val 2326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EDA Dimensions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447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Category Distribution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Equity, Debt, Hybrid, ELSS, Index breakdown across all schemes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10312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305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 Distribution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AMC-wise scheme count and AUM concentration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78892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0.1%–2.5%; correlation with performance outcomes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7472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02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Grade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Moderate, High risk segmentation by fund type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16052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187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 to 5-star Morningstar rating spread across categories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868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Category Distribution</a:t>
            </a:r>
            <a:endParaRPr lang="en-US" sz="14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72000" y="1234440"/>
          <a:ext cx="42976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4572000" y="3886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Grade Distribution</a:t>
            </a:r>
            <a:endParaRPr lang="en-US" sz="1200" dirty="0"/>
          </a:p>
        </p:txBody>
      </p:sp>
      <p:graphicFrame>
        <p:nvGraphicFramePr>
          <p:cNvPr id="24" name="Chart 1"/>
          <p:cNvGraphicFramePr/>
          <p:nvPr/>
        </p:nvGraphicFramePr>
        <p:xfrm>
          <a:off x="4572000" y="4160520"/>
          <a:ext cx="4297680" cy="86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3-Year Return by Category (%)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23444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868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NAV Trend (Equity vs Hybrid)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234440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8404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18795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Mid-Cap funds delivered superior returns over 3 years; Debt funds showed lower but stable yields.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consistently outperform benchmarks over long horizons despite short-term volatility.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ELSS combines tax benefits with competitive equity-level returns, making it an optimal choice for salaried investors.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503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— Rule-Based Multi-Parameter Scoring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52233"/>
          </a:solidFill>
          <a:ln w="12700">
            <a:solidFill>
              <a:srgbClr val="3A7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7393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investor risk appetite: Equity, Hybrid or Debt.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2801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52233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7160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Grade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77393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Low / Moderate / High / Very High rated funds.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52233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177393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high-cost funds; prefer &lt; 1.0% 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12801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15223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49440" y="137160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Morningstar Rating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77393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4-star and 5-star rated schemes.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4114800" cy="2148840"/>
          </a:xfrm>
          <a:prstGeom prst="roundRect">
            <a:avLst>
              <a:gd name="adj" fmla="val 4255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926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preferred risk category.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filters the schemes matching the selected risk profile.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ranked using Sharpe Ratio as the primary metric.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schemes are returned with supporting return metrics.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4206240" cy="2148840"/>
          </a:xfrm>
          <a:prstGeom prst="roundRect">
            <a:avLst>
              <a:gd name="adj" fmla="val 4255"/>
            </a:avLst>
          </a:prstGeom>
          <a:solidFill>
            <a:srgbClr val="152233"/>
          </a:solidFill>
          <a:ln w="12700">
            <a:solidFill>
              <a:srgbClr val="1B2A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29184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transparent — no black-box algorithm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tunable parameters for different investor profiles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10,000+ schemes without performance loss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ML upgrade (collaborative filtering, XGBoost)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Executive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1609344" cy="1325880"/>
          </a:xfrm>
          <a:prstGeom prst="roundRect">
            <a:avLst>
              <a:gd name="adj" fmla="val 6897"/>
            </a:avLst>
          </a:prstGeom>
          <a:solidFill>
            <a:srgbClr val="152233"/>
          </a:solidFill>
          <a:ln w="12700">
            <a:solidFill>
              <a:srgbClr val="3A7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96112"/>
            <a:ext cx="1609344" cy="164592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972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10,482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7373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Funds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56816" y="896112"/>
            <a:ext cx="1609344" cy="1325880"/>
          </a:xfrm>
          <a:prstGeom prst="roundRect">
            <a:avLst>
              <a:gd name="adj" fmla="val 6897"/>
            </a:avLst>
          </a:prstGeom>
          <a:solidFill>
            <a:srgbClr val="152233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56816" y="896112"/>
            <a:ext cx="1609344" cy="1645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10972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56816" y="17373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(AMCs)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30752" y="896112"/>
            <a:ext cx="1609344" cy="1325880"/>
          </a:xfrm>
          <a:prstGeom prst="roundRect">
            <a:avLst>
              <a:gd name="adj" fmla="val 6897"/>
            </a:avLst>
          </a:prstGeom>
          <a:solidFill>
            <a:srgbClr val="152233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30752" y="896112"/>
            <a:ext cx="1609344" cy="16459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30752" y="10972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30752" y="17373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Expense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04688" y="896112"/>
            <a:ext cx="1609344" cy="1325880"/>
          </a:xfrm>
          <a:prstGeom prst="roundRect">
            <a:avLst>
              <a:gd name="adj" fmla="val 6897"/>
            </a:avLst>
          </a:prstGeom>
          <a:solidFill>
            <a:srgbClr val="15223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04688" y="896112"/>
            <a:ext cx="1609344" cy="1645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0972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 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04688" y="17373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Morningstar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78624" y="896112"/>
            <a:ext cx="1609344" cy="1325880"/>
          </a:xfrm>
          <a:prstGeom prst="roundRect">
            <a:avLst>
              <a:gd name="adj" fmla="val 6897"/>
            </a:avLst>
          </a:prstGeom>
          <a:solidFill>
            <a:srgbClr val="1522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8624" y="896112"/>
            <a:ext cx="1609344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78624" y="109728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48.6L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78624" y="1737360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 Crore)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377440"/>
            <a:ext cx="8595360" cy="2514600"/>
          </a:xfrm>
          <a:prstGeom prst="roundRect">
            <a:avLst>
              <a:gd name="adj" fmla="val 4364"/>
            </a:avLst>
          </a:prstGeom>
          <a:solidFill>
            <a:srgbClr val="152233"/>
          </a:solidFill>
          <a:ln w="12700">
            <a:solidFill>
              <a:srgbClr val="8DA4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77440"/>
            <a:ext cx="85953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Power BI Executive Dashboard Screenshot 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 — Executive Overview page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B3AB8EA-4961-2E44-AC6F-27F835C60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391727"/>
            <a:ext cx="4895557" cy="24860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321E178-63DA-534D-9D2D-F5007C7A7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631" y="2406811"/>
            <a:ext cx="4790049" cy="24955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Pages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52233"/>
          </a:solidFill>
          <a:ln w="12700">
            <a:solidFill>
              <a:srgbClr val="3A7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24128"/>
            <a:ext cx="3895344" cy="347472"/>
          </a:xfrm>
          <a:prstGeom prst="roundRect">
            <a:avLst>
              <a:gd name="adj" fmla="val 15789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24128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46304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funds by 1Y, 3Y and 5Y returns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return comparison bar charts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vs. return scatter analysis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and Sharpe ratio heatmap by fund house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52233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18888" y="1024128"/>
            <a:ext cx="3895344" cy="347472"/>
          </a:xfrm>
          <a:prstGeom prst="roundRect">
            <a:avLst>
              <a:gd name="adj" fmla="val 1578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024128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3752" y="146304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trend (₹ Crore)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growth over rolling 12 months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vs. purchase ratio analysis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net inflow waterfall chart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5223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172968"/>
            <a:ext cx="3895344" cy="347472"/>
          </a:xfrm>
          <a:prstGeom prst="roundRect">
            <a:avLst>
              <a:gd name="adj" fmla="val 1578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172968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61188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 breakdown by fund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holdings across selected schemes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analysis between portfolio funds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 indicator per scheme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18888" y="3172968"/>
            <a:ext cx="3895344" cy="347472"/>
          </a:xfrm>
          <a:prstGeom prst="roundRect">
            <a:avLst>
              <a:gd name="adj" fmla="val 15789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3172968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361188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 pane (category, risk, TER)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fund table with score breakdown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scheme comparison panel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and export to CSV functionality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Analytical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3A7BD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Dominate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3441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schemes constitute ~38% of all registered schemes and account for over 55% of total industry AUM, reflecting strong long-term investor confidence.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1556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66360" y="10515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High-Rated Funds Show Consistency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34416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4-star and 5-star Morningstar-rated funds demonstrated superior risk-adjusted returns with lower standard deviation over a 3-year window.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039112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1945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1305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Affects 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with TER below 1.0% consistently outperformed high-cost peers in the same category, highlighting the compounding impact of fees on net returns.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039112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945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21305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Fund Houses Outperform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24231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MF, HDFC MF, and Mirae Asset emerged as consistently top-performing AMCs across equity categories with strong alpha generation.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118104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273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2095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Signal Retail Growth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5021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contributions crossed ₹19,000 Crore, indicating a structural shift toward disciplined, long-term retail investing in India.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118104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273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32095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 Risk Identified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35021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analysis revealed heavy allocation to Banking and IT across funds — signalling hidden concentration risk for seemingly diversified investors.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623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52233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production-ready data pipeline from raw AMFI data to actionable insights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4 interactive Power BI dashboards covering performance, behaviour and portfolio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rule-based recommendation engine serving investor-profile-specific fund picks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end-to-end data engineering competency using industry-standard tools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89120" y="868680"/>
            <a:ext cx="4480560" cy="1828800"/>
          </a:xfrm>
          <a:prstGeom prst="roundRect">
            <a:avLst>
              <a:gd name="adj" fmla="val 5000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325880"/>
            <a:ext cx="4114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Recommendation — collaborative filtering and XGBoost scoring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 — public-facing web app for real-time fund search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API Integration — live NAV data via NSE/BSE APIs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 — Markowitz mean-variance &amp; Sharpe ratio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— NAV forecasting with LSTM / Prophet models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8595360" cy="2103120"/>
          </a:xfrm>
          <a:prstGeom prst="roundRect">
            <a:avLst>
              <a:gd name="adj" fmla="val 6522"/>
            </a:avLst>
          </a:prstGeom>
          <a:solidFill>
            <a:srgbClr val="152233"/>
          </a:solidFill>
          <a:ln w="12700">
            <a:solidFill>
              <a:srgbClr val="F4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9718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74320" y="38221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| End-to-End Data Engineering and Analytics Capstone Project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 Python · Pandas · NumPy · Scikit-learn · Power BI · GitHub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1234</Words>
  <Application>Microsoft Office PowerPoint</Application>
  <PresentationFormat>On-screen Show (16:9)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</dc:title>
  <dc:subject>PptxGenJS Presentation</dc:subject>
  <dc:creator>Capstone Project</dc:creator>
  <cp:lastModifiedBy>Prateek Raj</cp:lastModifiedBy>
  <cp:revision>2</cp:revision>
  <dcterms:created xsi:type="dcterms:W3CDTF">2026-06-11T19:56:25Z</dcterms:created>
  <dcterms:modified xsi:type="dcterms:W3CDTF">2026-06-12T07:39:53Z</dcterms:modified>
</cp:coreProperties>
</file>